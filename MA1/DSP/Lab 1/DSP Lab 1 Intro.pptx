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473AAB0-C0C2-C5C5-797A-9D69392EECE4}" v="59" dt="2024-10-28T08:52:01.2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17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1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E29C99E-5CBB-01A9-0613-EE9CDEC29E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EF538E36-8F33-884A-A7CC-E5F7C886A9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90D8789-51F2-4DCA-A805-DBC953AFB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CA1E5-F1D7-4E92-8C01-2F20DD26BB4D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9EB3A02-69C6-772F-EE6A-B7E5E9F8F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5EC7B94-6657-CF00-75BC-37E31064C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B6B00-8FCE-4342-BBBA-DD5AB4D8B6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1462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1614D8-292A-5BC2-8ACB-4FCAABB5CC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9D37A2D-2D2C-831C-08F1-AAADC5ECBA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B47C08E-59C5-4C26-2BB0-8B21019DED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CA1E5-F1D7-4E92-8C01-2F20DD26BB4D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D753664-0B37-4CF6-31B3-B893177937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11F2D8C-DFC3-4E3C-D954-006FBDBC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B6B00-8FCE-4342-BBBA-DD5AB4D8B6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887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2E9CE7B-921E-EB8D-D9EE-A31FF0A47A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349EAC5-9D9A-A17E-6121-CE41DAEA68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296263F-7CA2-260F-BBF7-39E324F3C1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CA1E5-F1D7-4E92-8C01-2F20DD26BB4D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6730975-AAA5-B775-9DA0-02BD12BBF8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4825734-3333-00E8-1240-CACC41582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B6B00-8FCE-4342-BBBA-DD5AB4D8B6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9557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A9A417E-2631-92C2-5EA1-678A89C1E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BC500A4-C1E8-4061-90FC-37681C9F81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84CA69DE-6F94-CE4F-7543-DE6920804C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CBAF473-F515-D94A-20F8-DE9FAB2E4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CA1E5-F1D7-4E92-8C01-2F20DD26BB4D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5062F78-B795-5BEB-43FD-007959C0B5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0DFB74D-A62E-0C7C-2071-21F144054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B6B00-8FCE-4342-BBBA-DD5AB4D8B6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8381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1C23E0E-9C80-BFDA-E621-860B9B743B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393644F-68B3-0EFB-BC4B-5AE0117AB8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2210FD7-8412-252A-4CF7-88C777E8BD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9F84217F-D813-719E-4755-0720F6C4CF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9F4E7306-BC15-4648-8C74-756CCF1EE3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F2BF00E4-4D3A-EE70-53A5-D7FA8E550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CA1E5-F1D7-4E92-8C01-2F20DD26BB4D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1716F097-0097-3C03-1A30-0DD3F8781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7CCE7D47-DFF6-02D9-AAE8-5AD2507C4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B6B00-8FCE-4342-BBBA-DD5AB4D8B6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7281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AB92A62-67DD-A942-5E05-9FBD161D6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E401BD6F-62E4-EF59-EF9E-41291B885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CA1E5-F1D7-4E92-8C01-2F20DD26BB4D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C45B6F1-4A95-38D8-F1AA-D490FBB6B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527AE391-7C2B-004C-E5C3-D1049941A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B6B00-8FCE-4342-BBBA-DD5AB4D8B6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54792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779924F0-CE3C-6A9A-B7F4-B12FAAD34E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CA1E5-F1D7-4E92-8C01-2F20DD26BB4D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9E07688D-37D9-4F50-F56A-D6A159634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DAC7A09-341D-9542-A170-C8F8DE347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B6B00-8FCE-4342-BBBA-DD5AB4D8B6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809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13F0A4A-0BC6-345D-6874-DF8D92A15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9FE4FBB-BB9D-FF58-93C7-56538D2424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4645548-CE69-124D-014D-ACDA13188A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CEAAD7B-1DEB-1A02-DB68-31E566440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CA1E5-F1D7-4E92-8C01-2F20DD26BB4D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D57BA82-5DF0-A417-E2B9-AA2648A15A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D998452-622A-BE3E-B104-C8BEE485C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B6B00-8FCE-4342-BBBA-DD5AB4D8B6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4546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70EA56B-D263-D554-72C5-A66978A9F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DDC9FC1A-2B4C-E777-DD29-40A03D9DE9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D7831B5-6ADF-B1B7-019E-F9C406A884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51DF3EC-B1FF-4CB4-8FA6-BADC0D343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CA1E5-F1D7-4E92-8C01-2F20DD26BB4D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96FEEB1-E68A-653E-D755-333B0C937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17ECE57-6EFF-89C3-53FB-680E05BBF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B6B00-8FCE-4342-BBBA-DD5AB4D8B6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1918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70C736-15F1-6417-DE37-832629EA4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06960B0F-B33F-9480-77D7-0D338FC781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8E5ED25-106A-A3E4-43FD-9B19141D81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CA1E5-F1D7-4E92-8C01-2F20DD26BB4D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D9F7174-977D-9930-904E-C744D23E4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D18FE3C-64AD-21C6-B704-8F0E8E060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B6B00-8FCE-4342-BBBA-DD5AB4D8B6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9184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36857FC8-EF36-61E0-580F-1D3A70009A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6D4B386-7BED-90AF-C1FC-38D5D137E4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7E190C3-4FDF-87FD-53EF-8671A486C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CA1E5-F1D7-4E92-8C01-2F20DD26BB4D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04D7B04-3270-A5B3-1B8A-569F6BFC5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F3BD904-6A59-B755-716A-1B6A66917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B6B00-8FCE-4342-BBBA-DD5AB4D8B6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6877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6650DAE6-B3F2-913C-3071-4BBD37CEB8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D005C92-AB23-FA2A-9AD9-96EBC4F162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9504B8F-26A0-919E-C629-2054056F4A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FCA1E5-F1D7-4E92-8C01-2F20DD26BB4D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886B6BA-60D8-2BFA-1099-C24AEFD73E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BBCAB3D-C1B4-8E9E-BB71-E256E731FC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7B6B00-8FCE-4342-BBBA-DD5AB4D8B6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281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boris.joseph.joukovsky@vub.be" TargetMode="External"/><Relationship Id="rId2" Type="http://schemas.openxmlformats.org/officeDocument/2006/relationships/hyperlink" Target="mailto:brent.de.weerdt@vub.be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5" Type="http://schemas.openxmlformats.org/officeDocument/2006/relationships/image" Target="../media/image2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Relationship Id="rId1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C738E1F-A1E1-2E46-3B40-4F330C25CBB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DSP Lab 1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DF52DE6D-0FF9-6914-3E53-464E96583D9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35352870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07C112A-D126-96E0-C846-18BDE5BB9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08198"/>
          </a:xfrm>
        </p:spPr>
        <p:txBody>
          <a:bodyPr>
            <a:normAutofit/>
          </a:bodyPr>
          <a:lstStyle/>
          <a:p>
            <a:r>
              <a:rPr lang="en-US" sz="3600" dirty="0"/>
              <a:t>Practical details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5B21FF3-52C8-7016-33A9-44A556F0A2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2964"/>
            <a:ext cx="10515600" cy="478399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000" dirty="0"/>
              <a:t>Teaching assistants:</a:t>
            </a:r>
            <a:endParaRPr lang="en-US" sz="1600" dirty="0"/>
          </a:p>
          <a:p>
            <a:r>
              <a:rPr lang="en-US" sz="2000" dirty="0"/>
              <a:t>Brent De Weerdt  -  </a:t>
            </a:r>
            <a:r>
              <a:rPr lang="en-US" sz="2000" dirty="0">
                <a:hlinkClick r:id="rId2"/>
              </a:rPr>
              <a:t>brent.de.weerdt@vub.be</a:t>
            </a:r>
            <a:endParaRPr lang="en-US" sz="2000" dirty="0"/>
          </a:p>
          <a:p>
            <a:r>
              <a:rPr lang="en-US" sz="2000" dirty="0"/>
              <a:t>Giannis </a:t>
            </a:r>
            <a:r>
              <a:rPr lang="en-US" sz="2000" err="1"/>
              <a:t>Dilmperis</a:t>
            </a:r>
            <a:r>
              <a:rPr lang="en-US" sz="2000" dirty="0"/>
              <a:t>  -  </a:t>
            </a:r>
            <a:r>
              <a:rPr lang="en-US" sz="2000" dirty="0">
                <a:hlinkClick r:id="rId3"/>
              </a:rPr>
              <a:t>ioannis</a:t>
            </a:r>
            <a:r>
              <a:rPr lang="en-US" sz="2000" dirty="0">
                <a:hlinkClick r:id="rId3"/>
              </a:rPr>
              <a:t>.dilmperis@vub.be</a:t>
            </a:r>
            <a:endParaRPr lang="en-US" sz="200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Our office: PL9 2</a:t>
            </a:r>
            <a:r>
              <a:rPr lang="en-US" sz="2000" baseline="30000" dirty="0"/>
              <a:t>nd</a:t>
            </a:r>
            <a:r>
              <a:rPr lang="en-US" sz="2000" dirty="0"/>
              <a:t> floor</a:t>
            </a:r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7927149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07C112A-D126-96E0-C846-18BDE5BB9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08198"/>
          </a:xfrm>
        </p:spPr>
        <p:txBody>
          <a:bodyPr>
            <a:normAutofit/>
          </a:bodyPr>
          <a:lstStyle/>
          <a:p>
            <a:r>
              <a:rPr lang="en-US" sz="3600" dirty="0"/>
              <a:t>Practical details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5B21FF3-52C8-7016-33A9-44A556F0A2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2964"/>
            <a:ext cx="10515600" cy="478399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000" dirty="0"/>
              <a:t>6 Lab sessions on Wednesday 8-12 AM</a:t>
            </a:r>
          </a:p>
          <a:p>
            <a:r>
              <a:rPr lang="en-US" sz="2000" dirty="0"/>
              <a:t>Presence is </a:t>
            </a:r>
            <a:r>
              <a:rPr lang="en-US" sz="2000" i="1" dirty="0"/>
              <a:t>not</a:t>
            </a:r>
            <a:r>
              <a:rPr lang="en-US" sz="2000" dirty="0"/>
              <a:t> mandatory</a:t>
            </a:r>
          </a:p>
          <a:p>
            <a:r>
              <a:rPr lang="en-US" sz="2000" dirty="0"/>
              <a:t>No graded assignments</a:t>
            </a:r>
          </a:p>
          <a:p>
            <a:r>
              <a:rPr lang="en-US" sz="2000" dirty="0"/>
              <a:t>Solutions will be uploaded on the next week</a:t>
            </a:r>
          </a:p>
          <a:p>
            <a:endParaRPr lang="en-US" sz="2000" dirty="0"/>
          </a:p>
          <a:p>
            <a:pPr marL="0" indent="0">
              <a:buNone/>
            </a:pPr>
            <a:r>
              <a:rPr lang="en-US" sz="2000" dirty="0"/>
              <a:t>Evaluation:</a:t>
            </a:r>
          </a:p>
          <a:p>
            <a:r>
              <a:rPr lang="en-US" sz="2000" dirty="0"/>
              <a:t>Lab exam in January accounting for ~30% of the DSP grade</a:t>
            </a:r>
          </a:p>
          <a:p>
            <a:r>
              <a:rPr lang="en-US" sz="2000" dirty="0"/>
              <a:t>The exam will be a live coding exam with similar exercises to the lab</a:t>
            </a:r>
            <a:endParaRPr lang="en-US" sz="2000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031848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07C112A-D126-96E0-C846-18BDE5BB9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08198"/>
          </a:xfrm>
        </p:spPr>
        <p:txBody>
          <a:bodyPr>
            <a:normAutofit/>
          </a:bodyPr>
          <a:lstStyle/>
          <a:p>
            <a:r>
              <a:rPr lang="en-US" sz="3600" dirty="0"/>
              <a:t>Discrete signals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65B21FF3-52C8-7016-33A9-44A556F0A2F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92964"/>
                <a:ext cx="10515600" cy="4783999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000" dirty="0"/>
                  <a:t>1D signals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BE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fr-BE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BE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fr-BE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fr-BE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fr-BE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BE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fr-BE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fr-BE" sz="20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  <m:r>
                                <a:rPr lang="fr-BE" sz="2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fr-BE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fr-BE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fr-BE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d>
                              <m:r>
                                <a:rPr lang="fr-BE" sz="2000" b="0" i="1" smtClean="0">
                                  <a:latin typeface="Cambria Math" panose="02040503050406030204" pitchFamily="18" charset="0"/>
                                </a:rPr>
                                <m:t>    …     </m:t>
                              </m:r>
                              <m:r>
                                <a:rPr lang="fr-BE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fr-BE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fr-BE" sz="2000" b="0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fr-BE" sz="20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                        2D signals (grayscale image)                             3D signals (RGB image)</a:t>
                </a:r>
              </a:p>
            </p:txBody>
          </p:sp>
        </mc:Choice>
        <mc:Fallback xmlns="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65B21FF3-52C8-7016-33A9-44A556F0A2F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92964"/>
                <a:ext cx="10515600" cy="4783999"/>
              </a:xfrm>
              <a:blipFill>
                <a:blip r:embed="rId2"/>
                <a:stretch>
                  <a:fillRect l="-638" t="-14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Accolade fermante 3">
            <a:extLst>
              <a:ext uri="{FF2B5EF4-FFF2-40B4-BE49-F238E27FC236}">
                <a16:creationId xmlns:a16="http://schemas.microsoft.com/office/drawing/2014/main" id="{D44E278B-3C63-5324-F60B-834AF47DE4AD}"/>
              </a:ext>
            </a:extLst>
          </p:cNvPr>
          <p:cNvSpPr/>
          <p:nvPr/>
        </p:nvSpPr>
        <p:spPr>
          <a:xfrm rot="5400000">
            <a:off x="6358070" y="1136590"/>
            <a:ext cx="115369" cy="2362912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849D2041-1DE6-F055-81D0-3593F82264C7}"/>
                  </a:ext>
                </a:extLst>
              </p:cNvPr>
              <p:cNvSpPr txBox="1"/>
              <p:nvPr/>
            </p:nvSpPr>
            <p:spPr>
              <a:xfrm>
                <a:off x="5827676" y="2375731"/>
                <a:ext cx="117615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fr-BE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/>
                  <a:t> samples</a:t>
                </a:r>
              </a:p>
            </p:txBody>
          </p:sp>
        </mc:Choice>
        <mc:Fallback xmlns=""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849D2041-1DE6-F055-81D0-3593F82264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7676" y="2375731"/>
                <a:ext cx="1176156" cy="369332"/>
              </a:xfrm>
              <a:prstGeom prst="rect">
                <a:avLst/>
              </a:prstGeom>
              <a:blipFill>
                <a:blip r:embed="rId3"/>
                <a:stretch>
                  <a:fillRect t="-10000" r="-4145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8" name="Picture 4" descr="How are Images Stored on a Computer | Grayscale &amp; RGB Image Formats">
            <a:extLst>
              <a:ext uri="{FF2B5EF4-FFF2-40B4-BE49-F238E27FC236}">
                <a16:creationId xmlns:a16="http://schemas.microsoft.com/office/drawing/2014/main" id="{AC13EF8D-67F7-3559-1C83-AD50FDEE64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0811" y="3758976"/>
            <a:ext cx="2132333" cy="27338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Convolution on RGB images | Hands-On Java Deep Learning for Computer Vision">
            <a:extLst>
              <a:ext uri="{FF2B5EF4-FFF2-40B4-BE49-F238E27FC236}">
                <a16:creationId xmlns:a16="http://schemas.microsoft.com/office/drawing/2014/main" id="{A3021B7D-B5F3-3B7C-B9F5-3EC20269CC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5754" y="4104606"/>
            <a:ext cx="3736428" cy="2187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93710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07C112A-D126-96E0-C846-18BDE5BB9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08198"/>
          </a:xfrm>
        </p:spPr>
        <p:txBody>
          <a:bodyPr>
            <a:normAutofit/>
          </a:bodyPr>
          <a:lstStyle/>
          <a:p>
            <a:r>
              <a:rPr lang="en-US" sz="3600" dirty="0"/>
              <a:t>Sampling and Quantization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65B21FF3-52C8-7016-33A9-44A556F0A2F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92964"/>
                <a:ext cx="4717211" cy="4783999"/>
              </a:xfrm>
            </p:spPr>
            <p:txBody>
              <a:bodyPr>
                <a:normAutofit/>
              </a:bodyPr>
              <a:lstStyle/>
              <a:p>
                <a:r>
                  <a:rPr lang="en-US" sz="2000" dirty="0"/>
                  <a:t>Sampling: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BE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BE" sz="2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fr-BE" sz="20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fr-BE" sz="2000" b="0" i="1" smtClean="0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fr-BE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BE" sz="2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fr-BE" sz="2000" b="0" i="1" smtClean="0">
                            <a:latin typeface="Cambria Math" panose="02040503050406030204" pitchFamily="18" charset="0"/>
                          </a:rPr>
                          <m:t>𝑁𝑦𝑞𝑢𝑖𝑠𝑡</m:t>
                        </m:r>
                      </m:sub>
                    </m:sSub>
                    <m:r>
                      <a:rPr lang="fr-BE" sz="2000" b="0" i="1" smtClean="0">
                        <a:latin typeface="Cambria Math" panose="02040503050406030204" pitchFamily="18" charset="0"/>
                      </a:rPr>
                      <m:t>=2</m:t>
                    </m:r>
                    <m:sSub>
                      <m:sSubPr>
                        <m:ctrlPr>
                          <a:rPr lang="fr-BE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BE" sz="2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fr-BE" sz="2000" b="0" i="1" smtClean="0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</m:oMath>
                </a14:m>
                <a:endParaRPr lang="en-US" sz="2000" dirty="0"/>
              </a:p>
              <a:p>
                <a:endParaRPr lang="en-US" sz="2000" dirty="0"/>
              </a:p>
              <a:p>
                <a:r>
                  <a:rPr lang="en-US" sz="2000" dirty="0"/>
                  <a:t>Quantization: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BE" sz="1600" b="0" i="0" smtClean="0"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lang="en-US" sz="1600" dirty="0"/>
                  <a:t> is the resolution of the quantizer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fr-BE" sz="1600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1600" dirty="0"/>
                  <a:t> quantization bits </a:t>
                </a:r>
                <a14:m>
                  <m:oMath xmlns:m="http://schemas.openxmlformats.org/officeDocument/2006/math">
                    <m:r>
                      <a:rPr lang="fr-BE" sz="1600" b="0" i="1" smtClean="0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fr-BE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BE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fr-BE" sz="16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p>
                  </m:oMath>
                </a14:m>
                <a:r>
                  <a:rPr lang="en-US" sz="1600" dirty="0"/>
                  <a:t> quantization levels</a:t>
                </a:r>
              </a:p>
              <a:p>
                <a:pPr lvl="1"/>
                <a:r>
                  <a:rPr lang="en-US" sz="1600" dirty="0"/>
                  <a:t>Quantizer range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fr-BE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BE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fr-BE" sz="16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p>
                    <m:r>
                      <m:rPr>
                        <m:sty m:val="p"/>
                      </m:rPr>
                      <a:rPr lang="fr-BE" sz="1600" b="0" i="0" smtClean="0"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endParaRPr lang="en-US" sz="1600" dirty="0"/>
              </a:p>
              <a:p>
                <a:pPr lvl="1"/>
                <a:endParaRPr lang="en-US" sz="1600" dirty="0"/>
              </a:p>
              <a:p>
                <a:pPr lvl="1"/>
                <a:r>
                  <a:rPr lang="en-US" sz="1600" dirty="0"/>
                  <a:t>A quantizer must also define the </a:t>
                </a:r>
                <a:r>
                  <a:rPr lang="en-US" sz="1600" u="sng" dirty="0"/>
                  <a:t>reconstruction points</a:t>
                </a:r>
              </a:p>
            </p:txBody>
          </p:sp>
        </mc:Choice>
        <mc:Fallback xmlns="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65B21FF3-52C8-7016-33A9-44A556F0A2F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92964"/>
                <a:ext cx="4717211" cy="4783999"/>
              </a:xfrm>
              <a:blipFill>
                <a:blip r:embed="rId2"/>
                <a:stretch>
                  <a:fillRect l="-1164" t="-11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Image 4">
            <a:extLst>
              <a:ext uri="{FF2B5EF4-FFF2-40B4-BE49-F238E27FC236}">
                <a16:creationId xmlns:a16="http://schemas.microsoft.com/office/drawing/2014/main" id="{5985DFDA-D533-74E4-B874-03D77C0233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239167"/>
            <a:ext cx="4089544" cy="3826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73750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07C112A-D126-96E0-C846-18BDE5BB9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08198"/>
          </a:xfrm>
        </p:spPr>
        <p:txBody>
          <a:bodyPr>
            <a:normAutofit/>
          </a:bodyPr>
          <a:lstStyle/>
          <a:p>
            <a:r>
              <a:rPr lang="en-US" sz="3600" dirty="0"/>
              <a:t>Linear Convolution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65B21FF3-52C8-7016-33A9-44A556F0A2F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92964"/>
                <a:ext cx="5092581" cy="4783999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000" dirty="0"/>
                  <a:t>Continuous time: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fr-BE" sz="2000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fr-BE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BE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BE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fr-BE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BE" sz="20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fr-BE" sz="20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fr-BE" sz="20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</m:d>
                      <m:d>
                        <m:dPr>
                          <m:ctrlPr>
                            <a:rPr lang="fr-BE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BE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BE" sz="2000" b="0" i="1" smtClean="0"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trlPr>
                            <a:rPr lang="fr-BE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fr-BE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fr-BE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fr-BE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fr-BE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fr-BE" sz="20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fr-BE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BE" sz="2000" b="0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</m:d>
                          <m:r>
                            <a:rPr lang="fr-BE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d>
                            <m:dPr>
                              <m:ctrlPr>
                                <a:rPr lang="fr-BE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BE" sz="20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fr-BE" sz="2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fr-BE" sz="2000" b="0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</m:d>
                          <m:r>
                            <a:rPr lang="fr-BE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BE" sz="20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fr-BE" sz="2000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</m:nary>
                    </m:oMath>
                  </m:oMathPara>
                </a14:m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65B21FF3-52C8-7016-33A9-44A556F0A2F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92964"/>
                <a:ext cx="5092581" cy="4783999"/>
              </a:xfrm>
              <a:blipFill>
                <a:blip r:embed="rId2"/>
                <a:stretch>
                  <a:fillRect l="-1317" t="-14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Image 6">
            <a:extLst>
              <a:ext uri="{FF2B5EF4-FFF2-40B4-BE49-F238E27FC236}">
                <a16:creationId xmlns:a16="http://schemas.microsoft.com/office/drawing/2014/main" id="{796BECDD-9375-6BED-93F2-75413DD4DA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0734" y="2748371"/>
            <a:ext cx="2064861" cy="320908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Espace réservé du contenu 2">
                <a:extLst>
                  <a:ext uri="{FF2B5EF4-FFF2-40B4-BE49-F238E27FC236}">
                    <a16:creationId xmlns:a16="http://schemas.microsoft.com/office/drawing/2014/main" id="{E10F8D88-C132-897F-615D-EFC6EBA5C80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264070" y="1392963"/>
                <a:ext cx="5092581" cy="4783999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2000" dirty="0"/>
                  <a:t>Discrete time: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BE" sz="2000" b="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begChr m:val="["/>
                          <m:endChr m:val="]"/>
                          <m:ctrlPr>
                            <a:rPr lang="fr-BE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BE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fr-BE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BE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fr-BE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BE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fr-BE" sz="2000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fr-BE" sz="2000" b="0" i="1" smtClean="0"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begChr m:val="["/>
                          <m:endChr m:val="]"/>
                          <m:ctrlPr>
                            <a:rPr lang="fr-BE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BE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fr-BE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fr-BE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fr-BE" sz="2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fr-BE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  <m:e>
                          <m:r>
                            <a:rPr lang="fr-BE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fr-BE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BE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fr-BE" sz="2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fr-BE" sz="20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  <m:r>
                            <a:rPr lang="fr-BE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fr-BE" sz="2000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fr-BE" sz="2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fr-BE" sz="2000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nary>
                    </m:oMath>
                  </m:oMathPara>
                </a14:m>
                <a:endParaRPr lang="en-US" sz="20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sz="20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8" name="Espace réservé du contenu 2">
                <a:extLst>
                  <a:ext uri="{FF2B5EF4-FFF2-40B4-BE49-F238E27FC236}">
                    <a16:creationId xmlns:a16="http://schemas.microsoft.com/office/drawing/2014/main" id="{E10F8D88-C132-897F-615D-EFC6EBA5C8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4070" y="1392963"/>
                <a:ext cx="5092581" cy="4783999"/>
              </a:xfrm>
              <a:prstGeom prst="rect">
                <a:avLst/>
              </a:prstGeom>
              <a:blipFill>
                <a:blip r:embed="rId4"/>
                <a:stretch>
                  <a:fillRect l="-1317" t="-14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>
            <a:extLst>
              <a:ext uri="{FF2B5EF4-FFF2-40B4-BE49-F238E27FC236}">
                <a16:creationId xmlns:a16="http://schemas.microsoft.com/office/drawing/2014/main" id="{35C0DBC2-5216-8738-4F6A-3A87EE22E5E4}"/>
              </a:ext>
            </a:extLst>
          </p:cNvPr>
          <p:cNvSpPr/>
          <p:nvPr/>
        </p:nvSpPr>
        <p:spPr>
          <a:xfrm>
            <a:off x="7628545" y="3789347"/>
            <a:ext cx="299103" cy="3247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0</a:t>
            </a:r>
            <a:endParaRPr lang="en-US" sz="12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3351DDF-3C8D-EFED-CB9F-D8AE20E3B27C}"/>
              </a:ext>
            </a:extLst>
          </p:cNvPr>
          <p:cNvSpPr/>
          <p:nvPr/>
        </p:nvSpPr>
        <p:spPr>
          <a:xfrm>
            <a:off x="7927648" y="3789347"/>
            <a:ext cx="299103" cy="32474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90C17E7-8168-05DC-6E87-A0EE7FAB110A}"/>
              </a:ext>
            </a:extLst>
          </p:cNvPr>
          <p:cNvSpPr/>
          <p:nvPr/>
        </p:nvSpPr>
        <p:spPr>
          <a:xfrm>
            <a:off x="8226751" y="3789347"/>
            <a:ext cx="299103" cy="32474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6BAF143-73F3-7D35-20E2-A93CFF515C96}"/>
              </a:ext>
            </a:extLst>
          </p:cNvPr>
          <p:cNvSpPr/>
          <p:nvPr/>
        </p:nvSpPr>
        <p:spPr>
          <a:xfrm>
            <a:off x="8525854" y="3789347"/>
            <a:ext cx="299103" cy="32474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91B9E03-EBD0-D23A-D922-A1EACAE06B05}"/>
              </a:ext>
            </a:extLst>
          </p:cNvPr>
          <p:cNvSpPr/>
          <p:nvPr/>
        </p:nvSpPr>
        <p:spPr>
          <a:xfrm>
            <a:off x="8824957" y="3789347"/>
            <a:ext cx="299103" cy="32474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E70D9BE-5EF4-D048-DDF3-D06495DF0DAD}"/>
              </a:ext>
            </a:extLst>
          </p:cNvPr>
          <p:cNvSpPr/>
          <p:nvPr/>
        </p:nvSpPr>
        <p:spPr>
          <a:xfrm>
            <a:off x="9098423" y="3789347"/>
            <a:ext cx="299103" cy="32474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5532079-D130-D12F-AA8C-96C41E0C38E9}"/>
              </a:ext>
            </a:extLst>
          </p:cNvPr>
          <p:cNvSpPr/>
          <p:nvPr/>
        </p:nvSpPr>
        <p:spPr>
          <a:xfrm>
            <a:off x="9397526" y="3789347"/>
            <a:ext cx="299103" cy="32474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C9748AA-D73A-288E-A234-B9910C3C23A3}"/>
              </a:ext>
            </a:extLst>
          </p:cNvPr>
          <p:cNvSpPr/>
          <p:nvPr/>
        </p:nvSpPr>
        <p:spPr>
          <a:xfrm>
            <a:off x="9696629" y="3789347"/>
            <a:ext cx="299103" cy="3247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0</a:t>
            </a:r>
            <a:endParaRPr lang="en-US" sz="12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62322D5-5973-236F-1410-27E57B2FBDB4}"/>
              </a:ext>
            </a:extLst>
          </p:cNvPr>
          <p:cNvSpPr/>
          <p:nvPr/>
        </p:nvSpPr>
        <p:spPr>
          <a:xfrm>
            <a:off x="7628545" y="4861136"/>
            <a:ext cx="299103" cy="32474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7900220-4F39-DDD5-7E9E-A68D00CA7AAB}"/>
              </a:ext>
            </a:extLst>
          </p:cNvPr>
          <p:cNvSpPr/>
          <p:nvPr/>
        </p:nvSpPr>
        <p:spPr>
          <a:xfrm>
            <a:off x="7927648" y="4861136"/>
            <a:ext cx="299103" cy="3247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EA2C6DB-CEC0-D730-A790-4458F788F0B7}"/>
              </a:ext>
            </a:extLst>
          </p:cNvPr>
          <p:cNvSpPr/>
          <p:nvPr/>
        </p:nvSpPr>
        <p:spPr>
          <a:xfrm>
            <a:off x="8226751" y="4861136"/>
            <a:ext cx="299103" cy="3247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F445F90-556D-E1A0-7210-98DCCA80D0A4}"/>
              </a:ext>
            </a:extLst>
          </p:cNvPr>
          <p:cNvSpPr/>
          <p:nvPr/>
        </p:nvSpPr>
        <p:spPr>
          <a:xfrm>
            <a:off x="8525854" y="4861136"/>
            <a:ext cx="299103" cy="3247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E7B9D89-99B8-D6D8-E3C1-05442D11F9B8}"/>
              </a:ext>
            </a:extLst>
          </p:cNvPr>
          <p:cNvSpPr/>
          <p:nvPr/>
        </p:nvSpPr>
        <p:spPr>
          <a:xfrm>
            <a:off x="8824957" y="4861136"/>
            <a:ext cx="299103" cy="3247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6C18025-5764-5502-CA89-5D9B118CDC76}"/>
              </a:ext>
            </a:extLst>
          </p:cNvPr>
          <p:cNvSpPr/>
          <p:nvPr/>
        </p:nvSpPr>
        <p:spPr>
          <a:xfrm>
            <a:off x="9098423" y="4861136"/>
            <a:ext cx="299103" cy="3247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04FE388-B993-762C-DA68-FAD5FC6B7722}"/>
              </a:ext>
            </a:extLst>
          </p:cNvPr>
          <p:cNvSpPr/>
          <p:nvPr/>
        </p:nvSpPr>
        <p:spPr>
          <a:xfrm>
            <a:off x="9397526" y="4861136"/>
            <a:ext cx="299103" cy="3247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B505492-296B-39DC-349A-267803A0FC90}"/>
              </a:ext>
            </a:extLst>
          </p:cNvPr>
          <p:cNvSpPr/>
          <p:nvPr/>
        </p:nvSpPr>
        <p:spPr>
          <a:xfrm>
            <a:off x="9696629" y="4861136"/>
            <a:ext cx="299103" cy="3247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A996EDBF-BFCC-2550-37DB-059295521045}"/>
                  </a:ext>
                </a:extLst>
              </p:cNvPr>
              <p:cNvSpPr/>
              <p:nvPr/>
            </p:nvSpPr>
            <p:spPr>
              <a:xfrm>
                <a:off x="7329442" y="4292129"/>
                <a:ext cx="299103" cy="32474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BE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BE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fr-BE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A996EDBF-BFCC-2550-37DB-05929552104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9442" y="4292129"/>
                <a:ext cx="299103" cy="324740"/>
              </a:xfrm>
              <a:prstGeom prst="rect">
                <a:avLst/>
              </a:prstGeom>
              <a:blipFill>
                <a:blip r:embed="rId5"/>
                <a:stretch>
                  <a:fillRect l="-588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9713C448-448B-94C1-8D09-00D8161BE5E2}"/>
                  </a:ext>
                </a:extLst>
              </p:cNvPr>
              <p:cNvSpPr/>
              <p:nvPr/>
            </p:nvSpPr>
            <p:spPr>
              <a:xfrm>
                <a:off x="7628545" y="4292129"/>
                <a:ext cx="299103" cy="32474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BE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BE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fr-BE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9713C448-448B-94C1-8D09-00D8161BE5E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8545" y="4292129"/>
                <a:ext cx="299103" cy="324740"/>
              </a:xfrm>
              <a:prstGeom prst="rect">
                <a:avLst/>
              </a:prstGeom>
              <a:blipFill>
                <a:blip r:embed="rId6"/>
                <a:stretch>
                  <a:fillRect l="-588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D8DE6AC3-5766-7C29-2C7E-F4129D8DE1A1}"/>
                  </a:ext>
                </a:extLst>
              </p:cNvPr>
              <p:cNvSpPr/>
              <p:nvPr/>
            </p:nvSpPr>
            <p:spPr>
              <a:xfrm>
                <a:off x="7927648" y="4292129"/>
                <a:ext cx="299103" cy="32474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BE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BE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fr-BE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D8DE6AC3-5766-7C29-2C7E-F4129D8DE1A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7648" y="4292129"/>
                <a:ext cx="299103" cy="324740"/>
              </a:xfrm>
              <a:prstGeom prst="rect">
                <a:avLst/>
              </a:prstGeom>
              <a:blipFill>
                <a:blip r:embed="rId7"/>
                <a:stretch>
                  <a:fillRect l="-384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Accolade fermante 27">
            <a:extLst>
              <a:ext uri="{FF2B5EF4-FFF2-40B4-BE49-F238E27FC236}">
                <a16:creationId xmlns:a16="http://schemas.microsoft.com/office/drawing/2014/main" id="{F502816E-6DDE-961B-C94F-51373316DCAD}"/>
              </a:ext>
            </a:extLst>
          </p:cNvPr>
          <p:cNvSpPr/>
          <p:nvPr/>
        </p:nvSpPr>
        <p:spPr>
          <a:xfrm rot="16200000">
            <a:off x="8764731" y="2737809"/>
            <a:ext cx="77724" cy="1786072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ZoneTexte 28">
                <a:extLst>
                  <a:ext uri="{FF2B5EF4-FFF2-40B4-BE49-F238E27FC236}">
                    <a16:creationId xmlns:a16="http://schemas.microsoft.com/office/drawing/2014/main" id="{982AF185-52A6-5F57-794E-68563004C0C7}"/>
                  </a:ext>
                </a:extLst>
              </p:cNvPr>
              <p:cNvSpPr txBox="1"/>
              <p:nvPr/>
            </p:nvSpPr>
            <p:spPr>
              <a:xfrm>
                <a:off x="8275223" y="3289066"/>
                <a:ext cx="1099468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100" dirty="0"/>
                  <a:t>Original signal </a:t>
                </a:r>
                <a14:m>
                  <m:oMath xmlns:m="http://schemas.openxmlformats.org/officeDocument/2006/math">
                    <m:r>
                      <a:rPr lang="fr-BE" sz="11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sz="1100" dirty="0"/>
              </a:p>
            </p:txBody>
          </p:sp>
        </mc:Choice>
        <mc:Fallback xmlns="">
          <p:sp>
            <p:nvSpPr>
              <p:cNvPr id="29" name="ZoneTexte 28">
                <a:extLst>
                  <a:ext uri="{FF2B5EF4-FFF2-40B4-BE49-F238E27FC236}">
                    <a16:creationId xmlns:a16="http://schemas.microsoft.com/office/drawing/2014/main" id="{982AF185-52A6-5F57-794E-68563004C0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5223" y="3289066"/>
                <a:ext cx="1099468" cy="261610"/>
              </a:xfrm>
              <a:prstGeom prst="rect">
                <a:avLst/>
              </a:prstGeom>
              <a:blipFill>
                <a:blip r:embed="rId8"/>
                <a:stretch>
                  <a:fillRect b="-190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Rectangle 29">
            <a:extLst>
              <a:ext uri="{FF2B5EF4-FFF2-40B4-BE49-F238E27FC236}">
                <a16:creationId xmlns:a16="http://schemas.microsoft.com/office/drawing/2014/main" id="{A432E18C-FCE0-9B8D-E659-A0B855AD534B}"/>
              </a:ext>
            </a:extLst>
          </p:cNvPr>
          <p:cNvSpPr/>
          <p:nvPr/>
        </p:nvSpPr>
        <p:spPr>
          <a:xfrm>
            <a:off x="7333716" y="3786854"/>
            <a:ext cx="299103" cy="3247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0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AEB9DAA-4458-1557-ED37-B125F1655901}"/>
              </a:ext>
            </a:extLst>
          </p:cNvPr>
          <p:cNvSpPr/>
          <p:nvPr/>
        </p:nvSpPr>
        <p:spPr>
          <a:xfrm>
            <a:off x="9995732" y="3786854"/>
            <a:ext cx="299103" cy="3247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0</a:t>
            </a:r>
            <a:endParaRPr lang="en-US" sz="1200" dirty="0"/>
          </a:p>
        </p:txBody>
      </p:sp>
      <p:cxnSp>
        <p:nvCxnSpPr>
          <p:cNvPr id="32" name="Connecteur droit avec flèche 31">
            <a:extLst>
              <a:ext uri="{FF2B5EF4-FFF2-40B4-BE49-F238E27FC236}">
                <a16:creationId xmlns:a16="http://schemas.microsoft.com/office/drawing/2014/main" id="{B89EC2BC-F677-A320-3BB4-EFCAACB674C9}"/>
              </a:ext>
            </a:extLst>
          </p:cNvPr>
          <p:cNvCxnSpPr>
            <a:cxnSpLocks/>
            <a:stCxn id="30" idx="2"/>
            <a:endCxn id="25" idx="0"/>
          </p:cNvCxnSpPr>
          <p:nvPr/>
        </p:nvCxnSpPr>
        <p:spPr>
          <a:xfrm flipH="1">
            <a:off x="7478994" y="4111594"/>
            <a:ext cx="4274" cy="1805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eur droit avec flèche 32">
            <a:extLst>
              <a:ext uri="{FF2B5EF4-FFF2-40B4-BE49-F238E27FC236}">
                <a16:creationId xmlns:a16="http://schemas.microsoft.com/office/drawing/2014/main" id="{7016E1BA-BAFB-4F27-1E40-791A1935ACB1}"/>
              </a:ext>
            </a:extLst>
          </p:cNvPr>
          <p:cNvCxnSpPr>
            <a:cxnSpLocks/>
            <a:stCxn id="25" idx="2"/>
          </p:cNvCxnSpPr>
          <p:nvPr/>
        </p:nvCxnSpPr>
        <p:spPr>
          <a:xfrm>
            <a:off x="7478994" y="4616869"/>
            <a:ext cx="175188" cy="1603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eur droit avec flèche 33">
            <a:extLst>
              <a:ext uri="{FF2B5EF4-FFF2-40B4-BE49-F238E27FC236}">
                <a16:creationId xmlns:a16="http://schemas.microsoft.com/office/drawing/2014/main" id="{22BBEA1F-09EC-2B2B-DB28-269278DFC808}"/>
              </a:ext>
            </a:extLst>
          </p:cNvPr>
          <p:cNvCxnSpPr>
            <a:cxnSpLocks/>
            <a:stCxn id="26" idx="2"/>
          </p:cNvCxnSpPr>
          <p:nvPr/>
        </p:nvCxnSpPr>
        <p:spPr>
          <a:xfrm>
            <a:off x="7778097" y="4616869"/>
            <a:ext cx="0" cy="1603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eur droit avec flèche 34">
            <a:extLst>
              <a:ext uri="{FF2B5EF4-FFF2-40B4-BE49-F238E27FC236}">
                <a16:creationId xmlns:a16="http://schemas.microsoft.com/office/drawing/2014/main" id="{55D3A281-18C1-8E0C-B178-A3914AE4952C}"/>
              </a:ext>
            </a:extLst>
          </p:cNvPr>
          <p:cNvCxnSpPr>
            <a:cxnSpLocks/>
          </p:cNvCxnSpPr>
          <p:nvPr/>
        </p:nvCxnSpPr>
        <p:spPr>
          <a:xfrm flipH="1">
            <a:off x="7902011" y="4616869"/>
            <a:ext cx="175188" cy="1603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eur droit avec flèche 35">
            <a:extLst>
              <a:ext uri="{FF2B5EF4-FFF2-40B4-BE49-F238E27FC236}">
                <a16:creationId xmlns:a16="http://schemas.microsoft.com/office/drawing/2014/main" id="{43389B5B-0218-472D-33D8-53665BC0C055}"/>
              </a:ext>
            </a:extLst>
          </p:cNvPr>
          <p:cNvCxnSpPr>
            <a:cxnSpLocks/>
            <a:stCxn id="9" idx="2"/>
            <a:endCxn id="26" idx="0"/>
          </p:cNvCxnSpPr>
          <p:nvPr/>
        </p:nvCxnSpPr>
        <p:spPr>
          <a:xfrm>
            <a:off x="7778097" y="4114087"/>
            <a:ext cx="0" cy="1780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eur droit avec flèche 36">
            <a:extLst>
              <a:ext uri="{FF2B5EF4-FFF2-40B4-BE49-F238E27FC236}">
                <a16:creationId xmlns:a16="http://schemas.microsoft.com/office/drawing/2014/main" id="{1FBBEE2F-6502-8E13-8A10-96351D38A0D6}"/>
              </a:ext>
            </a:extLst>
          </p:cNvPr>
          <p:cNvCxnSpPr>
            <a:cxnSpLocks/>
            <a:stCxn id="10" idx="2"/>
            <a:endCxn id="27" idx="0"/>
          </p:cNvCxnSpPr>
          <p:nvPr/>
        </p:nvCxnSpPr>
        <p:spPr>
          <a:xfrm>
            <a:off x="8077200" y="4114087"/>
            <a:ext cx="0" cy="1780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Accolade fermante 37">
            <a:extLst>
              <a:ext uri="{FF2B5EF4-FFF2-40B4-BE49-F238E27FC236}">
                <a16:creationId xmlns:a16="http://schemas.microsoft.com/office/drawing/2014/main" id="{3BF17DF2-FF54-F816-F9DE-7373F5D25A9C}"/>
              </a:ext>
            </a:extLst>
          </p:cNvPr>
          <p:cNvSpPr/>
          <p:nvPr/>
        </p:nvSpPr>
        <p:spPr>
          <a:xfrm rot="16200000">
            <a:off x="10016690" y="3389069"/>
            <a:ext cx="77724" cy="478566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C4F3F18A-B4D3-E380-0259-4709AE7B1834}"/>
              </a:ext>
            </a:extLst>
          </p:cNvPr>
          <p:cNvSpPr txBox="1"/>
          <p:nvPr/>
        </p:nvSpPr>
        <p:spPr>
          <a:xfrm>
            <a:off x="9733188" y="3336551"/>
            <a:ext cx="644728" cy="261610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fr-BE" sz="1100" dirty="0"/>
              <a:t>padding</a:t>
            </a:r>
            <a:endParaRPr lang="en-US" sz="1100" dirty="0"/>
          </a:p>
        </p:txBody>
      </p:sp>
      <p:sp>
        <p:nvSpPr>
          <p:cNvPr id="40" name="Accolade fermante 39">
            <a:extLst>
              <a:ext uri="{FF2B5EF4-FFF2-40B4-BE49-F238E27FC236}">
                <a16:creationId xmlns:a16="http://schemas.microsoft.com/office/drawing/2014/main" id="{2CA9F6F5-F2BC-CDC5-2D19-5085CF842A26}"/>
              </a:ext>
            </a:extLst>
          </p:cNvPr>
          <p:cNvSpPr/>
          <p:nvPr/>
        </p:nvSpPr>
        <p:spPr>
          <a:xfrm rot="16200000">
            <a:off x="7564383" y="3389069"/>
            <a:ext cx="77724" cy="478566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ZoneTexte 40">
            <a:extLst>
              <a:ext uri="{FF2B5EF4-FFF2-40B4-BE49-F238E27FC236}">
                <a16:creationId xmlns:a16="http://schemas.microsoft.com/office/drawing/2014/main" id="{A483C3B1-2167-89A9-C7F2-7EDC4FA2E576}"/>
              </a:ext>
            </a:extLst>
          </p:cNvPr>
          <p:cNvSpPr txBox="1"/>
          <p:nvPr/>
        </p:nvSpPr>
        <p:spPr>
          <a:xfrm>
            <a:off x="7280881" y="3336551"/>
            <a:ext cx="644728" cy="261610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fr-BE" sz="1100" dirty="0"/>
              <a:t>padding</a:t>
            </a:r>
            <a:endParaRPr lang="en-US" sz="11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ZoneTexte 41">
                <a:extLst>
                  <a:ext uri="{FF2B5EF4-FFF2-40B4-BE49-F238E27FC236}">
                    <a16:creationId xmlns:a16="http://schemas.microsoft.com/office/drawing/2014/main" id="{A1976D77-6350-E1B0-8037-18C464D2636A}"/>
                  </a:ext>
                </a:extLst>
              </p:cNvPr>
              <p:cNvSpPr txBox="1"/>
              <p:nvPr/>
            </p:nvSpPr>
            <p:spPr>
              <a:xfrm>
                <a:off x="7329442" y="4075329"/>
                <a:ext cx="45719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BE" sz="1000" b="0" i="1" smtClean="0"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42" name="ZoneTexte 41">
                <a:extLst>
                  <a:ext uri="{FF2B5EF4-FFF2-40B4-BE49-F238E27FC236}">
                    <a16:creationId xmlns:a16="http://schemas.microsoft.com/office/drawing/2014/main" id="{A1976D77-6350-E1B0-8037-18C464D263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9442" y="4075329"/>
                <a:ext cx="45719" cy="246221"/>
              </a:xfrm>
              <a:prstGeom prst="rect">
                <a:avLst/>
              </a:prstGeom>
              <a:blipFill>
                <a:blip r:embed="rId9"/>
                <a:stretch>
                  <a:fillRect l="-25000" r="-2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ZoneTexte 42">
                <a:extLst>
                  <a:ext uri="{FF2B5EF4-FFF2-40B4-BE49-F238E27FC236}">
                    <a16:creationId xmlns:a16="http://schemas.microsoft.com/office/drawing/2014/main" id="{1A867835-0C7F-A3CA-5EA9-244FEC557858}"/>
                  </a:ext>
                </a:extLst>
              </p:cNvPr>
              <p:cNvSpPr txBox="1"/>
              <p:nvPr/>
            </p:nvSpPr>
            <p:spPr>
              <a:xfrm>
                <a:off x="7576320" y="4078750"/>
                <a:ext cx="129137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BE" sz="1000" b="0" i="1" smtClean="0"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43" name="ZoneTexte 42">
                <a:extLst>
                  <a:ext uri="{FF2B5EF4-FFF2-40B4-BE49-F238E27FC236}">
                    <a16:creationId xmlns:a16="http://schemas.microsoft.com/office/drawing/2014/main" id="{1A867835-0C7F-A3CA-5EA9-244FEC5578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6320" y="4078750"/>
                <a:ext cx="129137" cy="246221"/>
              </a:xfrm>
              <a:prstGeom prst="rect">
                <a:avLst/>
              </a:prstGeom>
              <a:blipFill>
                <a:blip r:embed="rId10"/>
                <a:stretch>
                  <a:fillRect r="-5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ZoneTexte 43">
                <a:extLst>
                  <a:ext uri="{FF2B5EF4-FFF2-40B4-BE49-F238E27FC236}">
                    <a16:creationId xmlns:a16="http://schemas.microsoft.com/office/drawing/2014/main" id="{4DC23A8D-3184-3E09-E780-BE47C0B8A978}"/>
                  </a:ext>
                </a:extLst>
              </p:cNvPr>
              <p:cNvSpPr txBox="1"/>
              <p:nvPr/>
            </p:nvSpPr>
            <p:spPr>
              <a:xfrm>
                <a:off x="7907904" y="4078576"/>
                <a:ext cx="45719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BE" sz="1000" b="0" i="1" smtClean="0"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44" name="ZoneTexte 43">
                <a:extLst>
                  <a:ext uri="{FF2B5EF4-FFF2-40B4-BE49-F238E27FC236}">
                    <a16:creationId xmlns:a16="http://schemas.microsoft.com/office/drawing/2014/main" id="{4DC23A8D-3184-3E09-E780-BE47C0B8A9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7904" y="4078576"/>
                <a:ext cx="45719" cy="246221"/>
              </a:xfrm>
              <a:prstGeom prst="rect">
                <a:avLst/>
              </a:prstGeom>
              <a:blipFill>
                <a:blip r:embed="rId11"/>
                <a:stretch>
                  <a:fillRect l="-37500" r="-2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ZoneTexte 44">
                <a:extLst>
                  <a:ext uri="{FF2B5EF4-FFF2-40B4-BE49-F238E27FC236}">
                    <a16:creationId xmlns:a16="http://schemas.microsoft.com/office/drawing/2014/main" id="{0C326A27-F73F-FD2C-1F83-BD8D93F6CED9}"/>
                  </a:ext>
                </a:extLst>
              </p:cNvPr>
              <p:cNvSpPr txBox="1"/>
              <p:nvPr/>
            </p:nvSpPr>
            <p:spPr>
              <a:xfrm>
                <a:off x="7143315" y="4608604"/>
                <a:ext cx="552799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fr-BE" sz="1050" b="0" i="0" smtClean="0">
                          <a:latin typeface="Cambria Math" panose="02040503050406030204" pitchFamily="18" charset="0"/>
                        </a:rPr>
                        <m:t>Σ</m:t>
                      </m:r>
                    </m:oMath>
                  </m:oMathPara>
                </a14:m>
                <a:endParaRPr lang="en-US" sz="1050" dirty="0"/>
              </a:p>
            </p:txBody>
          </p:sp>
        </mc:Choice>
        <mc:Fallback xmlns="">
          <p:sp>
            <p:nvSpPr>
              <p:cNvPr id="45" name="ZoneTexte 44">
                <a:extLst>
                  <a:ext uri="{FF2B5EF4-FFF2-40B4-BE49-F238E27FC236}">
                    <a16:creationId xmlns:a16="http://schemas.microsoft.com/office/drawing/2014/main" id="{0C326A27-F73F-FD2C-1F83-BD8D93F6CE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3315" y="4608604"/>
                <a:ext cx="552799" cy="253916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ZoneTexte 45">
                <a:extLst>
                  <a:ext uri="{FF2B5EF4-FFF2-40B4-BE49-F238E27FC236}">
                    <a16:creationId xmlns:a16="http://schemas.microsoft.com/office/drawing/2014/main" id="{33CE8CAE-558D-FBC7-210D-5F551724989E}"/>
                  </a:ext>
                </a:extLst>
              </p:cNvPr>
              <p:cNvSpPr txBox="1"/>
              <p:nvPr/>
            </p:nvSpPr>
            <p:spPr>
              <a:xfrm>
                <a:off x="6781057" y="4861136"/>
                <a:ext cx="42942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BE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6" name="ZoneTexte 45">
                <a:extLst>
                  <a:ext uri="{FF2B5EF4-FFF2-40B4-BE49-F238E27FC236}">
                    <a16:creationId xmlns:a16="http://schemas.microsoft.com/office/drawing/2014/main" id="{33CE8CAE-558D-FBC7-210D-5F55172498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1057" y="4861136"/>
                <a:ext cx="429427" cy="369332"/>
              </a:xfrm>
              <a:prstGeom prst="rect">
                <a:avLst/>
              </a:prstGeom>
              <a:blipFill>
                <a:blip r:embed="rId13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ZoneTexte 46">
                <a:extLst>
                  <a:ext uri="{FF2B5EF4-FFF2-40B4-BE49-F238E27FC236}">
                    <a16:creationId xmlns:a16="http://schemas.microsoft.com/office/drawing/2014/main" id="{B2BF48E5-B2CA-AC6B-C172-BC9A5473AF56}"/>
                  </a:ext>
                </a:extLst>
              </p:cNvPr>
              <p:cNvSpPr txBox="1"/>
              <p:nvPr/>
            </p:nvSpPr>
            <p:spPr>
              <a:xfrm>
                <a:off x="6766641" y="4275478"/>
                <a:ext cx="42942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BE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7" name="ZoneTexte 46">
                <a:extLst>
                  <a:ext uri="{FF2B5EF4-FFF2-40B4-BE49-F238E27FC236}">
                    <a16:creationId xmlns:a16="http://schemas.microsoft.com/office/drawing/2014/main" id="{B2BF48E5-B2CA-AC6B-C172-BC9A5473AF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6641" y="4275478"/>
                <a:ext cx="429427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ZoneTexte 47">
                <a:extLst>
                  <a:ext uri="{FF2B5EF4-FFF2-40B4-BE49-F238E27FC236}">
                    <a16:creationId xmlns:a16="http://schemas.microsoft.com/office/drawing/2014/main" id="{DC19A50D-2532-0710-7DF4-AF8CE41492C7}"/>
                  </a:ext>
                </a:extLst>
              </p:cNvPr>
              <p:cNvSpPr txBox="1"/>
              <p:nvPr/>
            </p:nvSpPr>
            <p:spPr>
              <a:xfrm>
                <a:off x="6766127" y="3778435"/>
                <a:ext cx="42942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BE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8" name="ZoneTexte 47">
                <a:extLst>
                  <a:ext uri="{FF2B5EF4-FFF2-40B4-BE49-F238E27FC236}">
                    <a16:creationId xmlns:a16="http://schemas.microsoft.com/office/drawing/2014/main" id="{DC19A50D-2532-0710-7DF4-AF8CE41492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6127" y="3778435"/>
                <a:ext cx="429427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0348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07C112A-D126-96E0-C846-18BDE5BB9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08198"/>
          </a:xfrm>
        </p:spPr>
        <p:txBody>
          <a:bodyPr>
            <a:normAutofit/>
          </a:bodyPr>
          <a:lstStyle/>
          <a:p>
            <a:r>
              <a:rPr lang="en-US" sz="3600" dirty="0"/>
              <a:t>Linear Convolution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65B21FF3-52C8-7016-33A9-44A556F0A2F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92963"/>
                <a:ext cx="10515600" cy="538385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000" dirty="0"/>
                  <a:t>Assume </a:t>
                </a:r>
                <a14:m>
                  <m:oMath xmlns:m="http://schemas.openxmlformats.org/officeDocument/2006/math">
                    <m:r>
                      <a:rPr lang="fr-BE" sz="2000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2000" dirty="0"/>
                  <a:t> samples for </a:t>
                </a:r>
                <a14:m>
                  <m:oMath xmlns:m="http://schemas.openxmlformats.org/officeDocument/2006/math">
                    <m:r>
                      <a:rPr lang="fr-BE" sz="20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r>
                      <a:rPr lang="fr-BE" sz="2000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sz="2000" dirty="0"/>
                  <a:t> samples for the filter </a:t>
                </a:r>
                <a14:m>
                  <m:oMath xmlns:m="http://schemas.openxmlformats.org/officeDocument/2006/math">
                    <m:r>
                      <a:rPr lang="fr-BE" sz="2000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sz="2000" dirty="0"/>
                  <a:t>    (</a:t>
                </a:r>
                <a14:m>
                  <m:oMath xmlns:m="http://schemas.openxmlformats.org/officeDocument/2006/math">
                    <m:r>
                      <a:rPr lang="fr-BE" sz="2000" b="0" i="1" dirty="0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sz="2000" dirty="0"/>
                  <a:t> odd, </a:t>
                </a:r>
                <a14:m>
                  <m:oMath xmlns:m="http://schemas.openxmlformats.org/officeDocument/2006/math">
                    <m:r>
                      <a:rPr lang="fr-BE" sz="2000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fr-BE" sz="2000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fr-BE" sz="2000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2000" dirty="0"/>
                  <a:t>)</a:t>
                </a:r>
              </a:p>
              <a:p>
                <a:pPr marL="0" indent="0">
                  <a:buNone/>
                </a:pPr>
                <a:r>
                  <a:rPr lang="en-US" sz="2000" dirty="0"/>
                  <a:t>What is the size of the output </a:t>
                </a:r>
                <a14:m>
                  <m:oMath xmlns:m="http://schemas.openxmlformats.org/officeDocument/2006/math">
                    <m:r>
                      <a:rPr lang="fr-BE" sz="20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000" dirty="0"/>
                  <a:t> ?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a)    </a:t>
                </a:r>
                <a14:m>
                  <m:oMath xmlns:m="http://schemas.openxmlformats.org/officeDocument/2006/math">
                    <m:r>
                      <a:rPr lang="fr-BE" sz="2000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fr-BE" sz="2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fr-BE" sz="2000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fr-BE" sz="2000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sz="2000" dirty="0"/>
                  <a:t>		b)</a:t>
                </a:r>
                <a14:m>
                  <m:oMath xmlns:m="http://schemas.openxmlformats.org/officeDocument/2006/math">
                    <m:r>
                      <a:rPr lang="fr-BE" sz="2000" b="0" i="1" smtClean="0">
                        <a:latin typeface="Cambria Math" panose="02040503050406030204" pitchFamily="18" charset="0"/>
                      </a:rPr>
                      <m:t>     </m:t>
                    </m:r>
                    <m:r>
                      <a:rPr lang="fr-BE" sz="2000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2000" dirty="0"/>
                  <a:t>                      c)</a:t>
                </a:r>
                <a14:m>
                  <m:oMath xmlns:m="http://schemas.openxmlformats.org/officeDocument/2006/math">
                    <m:r>
                      <a:rPr lang="fr-BE" sz="2000" b="0" i="1" smtClean="0">
                        <a:latin typeface="Cambria Math" panose="02040503050406030204" pitchFamily="18" charset="0"/>
                      </a:rPr>
                      <m:t>     </m:t>
                    </m:r>
                    <m:r>
                      <a:rPr lang="fr-BE" sz="2000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fr-BE" sz="20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fr-BE" sz="2000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fr-BE" sz="2000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65B21FF3-52C8-7016-33A9-44A556F0A2F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92963"/>
                <a:ext cx="10515600" cy="5383851"/>
              </a:xfrm>
              <a:blipFill>
                <a:blip r:embed="rId2"/>
                <a:stretch>
                  <a:fillRect l="-638" t="-12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167488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07C112A-D126-96E0-C846-18BDE5BB9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08198"/>
          </a:xfrm>
        </p:spPr>
        <p:txBody>
          <a:bodyPr>
            <a:normAutofit/>
          </a:bodyPr>
          <a:lstStyle/>
          <a:p>
            <a:r>
              <a:rPr lang="en-US" sz="3600" dirty="0"/>
              <a:t>Linear Convolution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65B21FF3-52C8-7016-33A9-44A556F0A2F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92964"/>
                <a:ext cx="10515600" cy="4783999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000" dirty="0"/>
                  <a:t>“Correct” answer:</a:t>
                </a:r>
                <a14:m>
                  <m:oMath xmlns:m="http://schemas.openxmlformats.org/officeDocument/2006/math">
                    <m:r>
                      <a:rPr lang="fr-BE" sz="2000" b="0" i="0" smtClean="0">
                        <a:latin typeface="Cambria Math" panose="02040503050406030204" pitchFamily="18" charset="0"/>
                      </a:rPr>
                      <m:t>    </m:t>
                    </m:r>
                    <m:r>
                      <a:rPr lang="fr-BE" sz="2000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fr-BE" sz="2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fr-BE" sz="2000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fr-BE" sz="2000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Reality might depend on the application. In </a:t>
                </a:r>
                <a:r>
                  <a:rPr lang="en-US" sz="2000" dirty="0" err="1"/>
                  <a:t>Matlab</a:t>
                </a:r>
                <a:r>
                  <a:rPr lang="en-US" sz="2000"/>
                  <a:t>:</a:t>
                </a: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>
                    <a:latin typeface="Lucida Console" panose="020B0609040504020204" pitchFamily="49" charset="0"/>
                  </a:rPr>
                  <a:t>y = conv(x, h, ‘full’) </a:t>
                </a:r>
                <a:r>
                  <a:rPr lang="en-US" sz="2000" dirty="0"/>
                  <a:t>returns the full convolution of size </a:t>
                </a:r>
                <a14:m>
                  <m:oMath xmlns:m="http://schemas.openxmlformats.org/officeDocument/2006/math">
                    <m:r>
                      <a:rPr lang="fr-BE" sz="2000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fr-BE" sz="2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fr-BE" sz="2000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fr-BE" sz="2000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>
                    <a:latin typeface="Lucida Console" panose="020B0609040504020204" pitchFamily="49" charset="0"/>
                  </a:rPr>
                  <a:t>y = conv(x, h, ‘same’) </a:t>
                </a:r>
                <a:r>
                  <a:rPr lang="en-US" sz="2000" dirty="0"/>
                  <a:t>returns only the part of the same size as the input</a:t>
                </a:r>
                <a:endParaRPr lang="en-US" sz="2000" dirty="0">
                  <a:latin typeface="Lucida Console" panose="020B0609040504020204" pitchFamily="49" charset="0"/>
                </a:endParaRPr>
              </a:p>
              <a:p>
                <a:pPr marL="0" indent="0">
                  <a:buNone/>
                </a:pPr>
                <a:r>
                  <a:rPr lang="en-US" sz="2000" dirty="0">
                    <a:latin typeface="Lucida Console" panose="020B0609040504020204" pitchFamily="49" charset="0"/>
                  </a:rPr>
                  <a:t>y = conv(x, h, ‘valid’)</a:t>
                </a:r>
                <a:r>
                  <a:rPr lang="en-US" sz="2000" dirty="0"/>
                  <a:t> returns the filtered samples non-affected by zero-padding</a:t>
                </a:r>
                <a:endParaRPr lang="en-US" sz="2000" dirty="0">
                  <a:latin typeface="Lucida Console" panose="020B0609040504020204" pitchFamily="49" charset="0"/>
                </a:endParaRPr>
              </a:p>
            </p:txBody>
          </p:sp>
        </mc:Choice>
        <mc:Fallback xmlns="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65B21FF3-52C8-7016-33A9-44A556F0A2F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92964"/>
                <a:ext cx="10515600" cy="4783999"/>
              </a:xfrm>
              <a:blipFill>
                <a:blip r:embed="rId2"/>
                <a:stretch>
                  <a:fillRect l="-638" t="-14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74" name="Picture 2">
            <a:extLst>
              <a:ext uri="{FF2B5EF4-FFF2-40B4-BE49-F238E27FC236}">
                <a16:creationId xmlns:a16="http://schemas.microsoft.com/office/drawing/2014/main" id="{313F1C20-DBE4-3BE5-D263-227EF7F9F9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2250" y="4516245"/>
            <a:ext cx="6667500" cy="2085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8644151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4A23D0688B4594BAD281F2BC1C60D25" ma:contentTypeVersion="14" ma:contentTypeDescription="Een nieuw document maken." ma:contentTypeScope="" ma:versionID="230b9bedf1daac97f2a816612a63d613">
  <xsd:schema xmlns:xsd="http://www.w3.org/2001/XMLSchema" xmlns:xs="http://www.w3.org/2001/XMLSchema" xmlns:p="http://schemas.microsoft.com/office/2006/metadata/properties" xmlns:ns2="828003c7-4d78-42a1-9e17-24eb02de087c" xmlns:ns3="556127fc-eda6-498f-a578-7007d25deba7" targetNamespace="http://schemas.microsoft.com/office/2006/metadata/properties" ma:root="true" ma:fieldsID="f7a81251dbfa772d50363a83ece6624d" ns2:_="" ns3:_="">
    <xsd:import namespace="828003c7-4d78-42a1-9e17-24eb02de087c"/>
    <xsd:import namespace="556127fc-eda6-498f-a578-7007d25deba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28003c7-4d78-42a1-9e17-24eb02de087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8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20" nillable="true" ma:taxonomy="true" ma:internalName="lcf76f155ced4ddcb4097134ff3c332f" ma:taxonomyFieldName="MediaServiceImageTags" ma:displayName="Afbeeldingtags" ma:readOnly="false" ma:fieldId="{5cf76f15-5ced-4ddc-b409-7134ff3c332f}" ma:taxonomyMulti="true" ma:sspId="50a49bc4-c9e0-412a-b7e2-852193553bd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56127fc-eda6-498f-a578-7007d25deba7" elementFormDefault="qualified">
    <xsd:import namespace="http://schemas.microsoft.com/office/2006/documentManagement/types"/>
    <xsd:import namespace="http://schemas.microsoft.com/office/infopath/2007/PartnerControls"/>
    <xsd:element name="TaxCatchAll" ma:index="21" nillable="true" ma:displayName="Taxonomy Catch All Column" ma:hidden="true" ma:list="{c85e6681-382d-4c9c-b9ee-0a8146f2be76}" ma:internalName="TaxCatchAll" ma:showField="CatchAllData" ma:web="556127fc-eda6-498f-a578-7007d25deba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556127fc-eda6-498f-a578-7007d25deba7" xsi:nil="true"/>
    <lcf76f155ced4ddcb4097134ff3c332f xmlns="828003c7-4d78-42a1-9e17-24eb02de087c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48890EC7-9CD8-49A9-8477-D13C3D4C80CC}"/>
</file>

<file path=customXml/itemProps2.xml><?xml version="1.0" encoding="utf-8"?>
<ds:datastoreItem xmlns:ds="http://schemas.openxmlformats.org/officeDocument/2006/customXml" ds:itemID="{C3CFAF59-3680-4AD2-8329-30EA02C5CA55}"/>
</file>

<file path=customXml/itemProps3.xml><?xml version="1.0" encoding="utf-8"?>
<ds:datastoreItem xmlns:ds="http://schemas.openxmlformats.org/officeDocument/2006/customXml" ds:itemID="{AB8C9E86-4602-4A62-9EBA-A74B706F9D3F}"/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339</Words>
  <Application>Microsoft Office PowerPoint</Application>
  <PresentationFormat>Widescreen</PresentationFormat>
  <Paragraphs>70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Thème Office</vt:lpstr>
      <vt:lpstr>DSP Lab 1</vt:lpstr>
      <vt:lpstr>Practical details</vt:lpstr>
      <vt:lpstr>Practical details</vt:lpstr>
      <vt:lpstr>Discrete signals</vt:lpstr>
      <vt:lpstr>Sampling and Quantization</vt:lpstr>
      <vt:lpstr>Linear Convolution</vt:lpstr>
      <vt:lpstr>Linear Convolution</vt:lpstr>
      <vt:lpstr>Linear Convolution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Boris Joseph Joukovsky</dc:creator>
  <cp:lastModifiedBy>Boris Joseph Joukovsky</cp:lastModifiedBy>
  <cp:revision>47</cp:revision>
  <dcterms:created xsi:type="dcterms:W3CDTF">2022-11-15T21:41:58Z</dcterms:created>
  <dcterms:modified xsi:type="dcterms:W3CDTF">2024-10-28T08:53:39Z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0x01010094A23D0688B4594BAD281F2BC1C60D25</vt:lpwstr>
  </property>
  <property fmtid="{D5CDD505-2E9C-101B-9397-08002B2CF9AE}" pid="3" name="Order">
    <vt:r8>37009800</vt:r8>
  </property>
  <property fmtid="{D5CDD505-2E9C-101B-9397-08002B2CF9AE}" pid="4" name="_ExtendedDescription">
    <vt:lpwstr/>
  </property>
  <property fmtid="{D5CDD505-2E9C-101B-9397-08002B2CF9AE}" pid="5" name="TriggerFlowInfo">
    <vt:lpwstr/>
  </property>
  <property fmtid="{D5CDD505-2E9C-101B-9397-08002B2CF9AE}" pid="6" name="_SourceUrl">
    <vt:lpwstr/>
  </property>
  <property fmtid="{D5CDD505-2E9C-101B-9397-08002B2CF9AE}" pid="7" name="_SharedFileIndex">
    <vt:lpwstr/>
  </property>
  <property fmtid="{D5CDD505-2E9C-101B-9397-08002B2CF9AE}" pid="8" name="ComplianceAssetId">
    <vt:lpwstr/>
  </property>
</Properties>
</file>